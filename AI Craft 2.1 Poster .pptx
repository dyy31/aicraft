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6"/>
  </p:notesMasterIdLst>
  <p:sldIdLst>
    <p:sldId id="259" r:id="rId5"/>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2D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C542E2-F8BD-459A-987C-724A57710D0C}" v="4" dt="2025-02-26T13:19:36.3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62" autoAdjust="0"/>
    <p:restoredTop sz="94249" autoAdjust="0"/>
  </p:normalViewPr>
  <p:slideViewPr>
    <p:cSldViewPr snapToGrid="0">
      <p:cViewPr varScale="1">
        <p:scale>
          <a:sx n="56" d="100"/>
          <a:sy n="56" d="100"/>
        </p:scale>
        <p:origin x="332"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 upreti" userId="787f8e7cf54fa32f" providerId="LiveId" clId="{53C542E2-F8BD-459A-987C-724A57710D0C}"/>
    <pc:docChg chg="custSel modSld sldOrd">
      <pc:chgData name="harsh upreti" userId="787f8e7cf54fa32f" providerId="LiveId" clId="{53C542E2-F8BD-459A-987C-724A57710D0C}" dt="2025-02-26T13:22:59.928" v="100" actId="1076"/>
      <pc:docMkLst>
        <pc:docMk/>
      </pc:docMkLst>
      <pc:sldChg chg="addSp delSp modSp mod ord">
        <pc:chgData name="harsh upreti" userId="787f8e7cf54fa32f" providerId="LiveId" clId="{53C542E2-F8BD-459A-987C-724A57710D0C}" dt="2025-02-26T13:22:59.928" v="100" actId="1076"/>
        <pc:sldMkLst>
          <pc:docMk/>
          <pc:sldMk cId="2178447867" sldId="259"/>
        </pc:sldMkLst>
        <pc:spChg chg="add mod">
          <ac:chgData name="harsh upreti" userId="787f8e7cf54fa32f" providerId="LiveId" clId="{53C542E2-F8BD-459A-987C-724A57710D0C}" dt="2025-02-26T13:22:59.928" v="100" actId="1076"/>
          <ac:spMkLst>
            <pc:docMk/>
            <pc:sldMk cId="2178447867" sldId="259"/>
            <ac:spMk id="9" creationId="{00F5C3C7-7EFF-4C20-AAE8-E02A44D6B758}"/>
          </ac:spMkLst>
        </pc:spChg>
        <pc:spChg chg="add mod">
          <ac:chgData name="harsh upreti" userId="787f8e7cf54fa32f" providerId="LiveId" clId="{53C542E2-F8BD-459A-987C-724A57710D0C}" dt="2025-02-26T13:20:33.188" v="96" actId="1076"/>
          <ac:spMkLst>
            <pc:docMk/>
            <pc:sldMk cId="2178447867" sldId="259"/>
            <ac:spMk id="14" creationId="{A2576C70-7A16-2599-C5EB-CB1F1A0AE066}"/>
          </ac:spMkLst>
        </pc:spChg>
        <pc:spChg chg="mod">
          <ac:chgData name="harsh upreti" userId="787f8e7cf54fa32f" providerId="LiveId" clId="{53C542E2-F8BD-459A-987C-724A57710D0C}" dt="2025-02-26T12:56:42.962" v="9" actId="20577"/>
          <ac:spMkLst>
            <pc:docMk/>
            <pc:sldMk cId="2178447867" sldId="259"/>
            <ac:spMk id="49" creationId="{4E62AF6B-EBD5-E133-46FC-540BAE70F143}"/>
          </ac:spMkLst>
        </pc:spChg>
        <pc:graphicFrameChg chg="add del modGraphic">
          <ac:chgData name="harsh upreti" userId="787f8e7cf54fa32f" providerId="LiveId" clId="{53C542E2-F8BD-459A-987C-724A57710D0C}" dt="2025-02-26T13:02:13.229" v="13" actId="478"/>
          <ac:graphicFrameMkLst>
            <pc:docMk/>
            <pc:sldMk cId="2178447867" sldId="259"/>
            <ac:graphicFrameMk id="4" creationId="{C485D2D7-45CB-8FA4-0FA2-EF21C694A7FE}"/>
          </ac:graphicFrameMkLst>
        </pc:graphicFrameChg>
        <pc:picChg chg="add mod">
          <ac:chgData name="harsh upreti" userId="787f8e7cf54fa32f" providerId="LiveId" clId="{53C542E2-F8BD-459A-987C-724A57710D0C}" dt="2025-02-26T13:20:29.810" v="95" actId="1076"/>
          <ac:picMkLst>
            <pc:docMk/>
            <pc:sldMk cId="2178447867" sldId="259"/>
            <ac:picMk id="6" creationId="{7DDB267F-80CD-D5C0-752D-33489F24C5F4}"/>
          </ac:picMkLst>
        </pc:picChg>
        <pc:picChg chg="add del mod ord modCrop">
          <ac:chgData name="harsh upreti" userId="787f8e7cf54fa32f" providerId="LiveId" clId="{53C542E2-F8BD-459A-987C-724A57710D0C}" dt="2025-02-26T13:16:04.227" v="41" actId="478"/>
          <ac:picMkLst>
            <pc:docMk/>
            <pc:sldMk cId="2178447867" sldId="259"/>
            <ac:picMk id="12" creationId="{527B2511-0EB5-AFBC-5D0B-10A56232EDE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5EAC13-107D-470D-85EC-B438DD8328F5}" type="datetimeFigureOut">
              <a:rPr lang="en-US" smtClean="0"/>
              <a:t>2/26/2025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E61D0A-E5A9-4136-9C9B-9EBE3F086D00}" type="slidenum">
              <a:rPr lang="en-US" smtClean="0"/>
              <a:t>‹#›</a:t>
            </a:fld>
            <a:endParaRPr lang="en-US"/>
          </a:p>
        </p:txBody>
      </p:sp>
    </p:spTree>
    <p:extLst>
      <p:ext uri="{BB962C8B-B14F-4D97-AF65-F5344CB8AC3E}">
        <p14:creationId xmlns:p14="http://schemas.microsoft.com/office/powerpoint/2010/main" val="3936402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758F5-F7D3-0E29-005E-33FDAA1E3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920E65-F982-676B-E754-6463C8D1B3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CEE761-794F-0F46-0176-4D609B9668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BA7BB6-3394-AFB9-D4F1-39E51A71357B}"/>
              </a:ext>
            </a:extLst>
          </p:cNvPr>
          <p:cNvSpPr>
            <a:spLocks noGrp="1"/>
          </p:cNvSpPr>
          <p:nvPr>
            <p:ph type="sldNum" sz="quarter" idx="5"/>
          </p:nvPr>
        </p:nvSpPr>
        <p:spPr/>
        <p:txBody>
          <a:bodyPr/>
          <a:lstStyle/>
          <a:p>
            <a:fld id="{3AE61D0A-E5A9-4136-9C9B-9EBE3F086D00}" type="slidenum">
              <a:rPr lang="en-US" smtClean="0"/>
              <a:t>1</a:t>
            </a:fld>
            <a:endParaRPr lang="en-US"/>
          </a:p>
        </p:txBody>
      </p:sp>
    </p:spTree>
    <p:extLst>
      <p:ext uri="{BB962C8B-B14F-4D97-AF65-F5344CB8AC3E}">
        <p14:creationId xmlns:p14="http://schemas.microsoft.com/office/powerpoint/2010/main" val="3451693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32000" y="1496484"/>
            <a:ext cx="12192000" cy="3183467"/>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2032000" y="4802717"/>
            <a:ext cx="121920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C00833C-F576-4E07-BC5A-DA5472110DA1}"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790714-5A91-4EA1-BB45-1904054F34D7}" type="slidenum">
              <a:rPr lang="en-US" smtClean="0"/>
              <a:t>‹#›</a:t>
            </a:fld>
            <a:endParaRPr lang="en-US"/>
          </a:p>
        </p:txBody>
      </p:sp>
    </p:spTree>
    <p:extLst>
      <p:ext uri="{BB962C8B-B14F-4D97-AF65-F5344CB8AC3E}">
        <p14:creationId xmlns:p14="http://schemas.microsoft.com/office/powerpoint/2010/main" val="3717688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00833C-F576-4E07-BC5A-DA5472110DA1}"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790714-5A91-4EA1-BB45-1904054F34D7}" type="slidenum">
              <a:rPr lang="en-US" smtClean="0"/>
              <a:t>‹#›</a:t>
            </a:fld>
            <a:endParaRPr lang="en-US"/>
          </a:p>
        </p:txBody>
      </p:sp>
    </p:spTree>
    <p:extLst>
      <p:ext uri="{BB962C8B-B14F-4D97-AF65-F5344CB8AC3E}">
        <p14:creationId xmlns:p14="http://schemas.microsoft.com/office/powerpoint/2010/main" val="2742524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9133" y="2279652"/>
            <a:ext cx="14020800" cy="3803649"/>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1109133" y="6119285"/>
            <a:ext cx="14020800" cy="2000249"/>
          </a:xfrm>
        </p:spPr>
        <p:txBody>
          <a:bodyPr/>
          <a:lstStyle>
            <a:lvl1pPr marL="0" indent="0">
              <a:buNone/>
              <a:defRPr sz="3200">
                <a:solidFill>
                  <a:schemeClr val="tx1">
                    <a:tint val="75000"/>
                  </a:schemeClr>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00833C-F576-4E07-BC5A-DA5472110DA1}"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790714-5A91-4EA1-BB45-1904054F34D7}" type="slidenum">
              <a:rPr lang="en-US" smtClean="0"/>
              <a:t>‹#›</a:t>
            </a:fld>
            <a:endParaRPr lang="en-US"/>
          </a:p>
        </p:txBody>
      </p:sp>
    </p:spTree>
    <p:extLst>
      <p:ext uri="{BB962C8B-B14F-4D97-AF65-F5344CB8AC3E}">
        <p14:creationId xmlns:p14="http://schemas.microsoft.com/office/powerpoint/2010/main" val="382802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17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229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00833C-F576-4E07-BC5A-DA5472110DA1}" type="datetimeFigureOut">
              <a:rPr lang="en-US" smtClean="0"/>
              <a:t>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790714-5A91-4EA1-BB45-1904054F34D7}" type="slidenum">
              <a:rPr lang="en-US" smtClean="0"/>
              <a:t>‹#›</a:t>
            </a:fld>
            <a:endParaRPr lang="en-US"/>
          </a:p>
        </p:txBody>
      </p:sp>
    </p:spTree>
    <p:extLst>
      <p:ext uri="{BB962C8B-B14F-4D97-AF65-F5344CB8AC3E}">
        <p14:creationId xmlns:p14="http://schemas.microsoft.com/office/powerpoint/2010/main" val="363632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19717" y="486834"/>
            <a:ext cx="14020800"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19718" y="2241551"/>
            <a:ext cx="6877049"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1119718" y="3340100"/>
            <a:ext cx="6877049"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229600" y="2241551"/>
            <a:ext cx="6910917"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8229600" y="3340100"/>
            <a:ext cx="691091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00833C-F576-4E07-BC5A-DA5472110DA1}" type="datetimeFigureOut">
              <a:rPr lang="en-US" smtClean="0"/>
              <a:t>2/26/2025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790714-5A91-4EA1-BB45-1904054F34D7}" type="slidenum">
              <a:rPr lang="en-US" smtClean="0"/>
              <a:t>‹#›</a:t>
            </a:fld>
            <a:endParaRPr lang="en-US"/>
          </a:p>
        </p:txBody>
      </p:sp>
    </p:spTree>
    <p:extLst>
      <p:ext uri="{BB962C8B-B14F-4D97-AF65-F5344CB8AC3E}">
        <p14:creationId xmlns:p14="http://schemas.microsoft.com/office/powerpoint/2010/main" val="3863835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00833C-F576-4E07-BC5A-DA5472110DA1}" type="datetimeFigureOut">
              <a:rPr lang="en-US" smtClean="0"/>
              <a:t>2/26/2025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790714-5A91-4EA1-BB45-1904054F34D7}" type="slidenum">
              <a:rPr lang="en-US" smtClean="0"/>
              <a:t>‹#›</a:t>
            </a:fld>
            <a:endParaRPr lang="en-US"/>
          </a:p>
        </p:txBody>
      </p:sp>
    </p:spTree>
    <p:extLst>
      <p:ext uri="{BB962C8B-B14F-4D97-AF65-F5344CB8AC3E}">
        <p14:creationId xmlns:p14="http://schemas.microsoft.com/office/powerpoint/2010/main" val="1510621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00833C-F576-4E07-BC5A-DA5472110DA1}" type="datetimeFigureOut">
              <a:rPr lang="en-US" smtClean="0"/>
              <a:t>2/26/2025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790714-5A91-4EA1-BB45-1904054F34D7}" type="slidenum">
              <a:rPr lang="en-US" smtClean="0"/>
              <a:t>‹#›</a:t>
            </a:fld>
            <a:endParaRPr lang="en-US"/>
          </a:p>
        </p:txBody>
      </p:sp>
    </p:spTree>
    <p:extLst>
      <p:ext uri="{BB962C8B-B14F-4D97-AF65-F5344CB8AC3E}">
        <p14:creationId xmlns:p14="http://schemas.microsoft.com/office/powerpoint/2010/main" val="3351113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9718" y="609600"/>
            <a:ext cx="5242983" cy="2133600"/>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6910917" y="1316567"/>
            <a:ext cx="8229600" cy="64981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9718" y="2743200"/>
            <a:ext cx="5242983"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2C00833C-F576-4E07-BC5A-DA5472110DA1}" type="datetimeFigureOut">
              <a:rPr lang="en-US" smtClean="0"/>
              <a:t>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790714-5A91-4EA1-BB45-1904054F34D7}" type="slidenum">
              <a:rPr lang="en-US" smtClean="0"/>
              <a:t>‹#›</a:t>
            </a:fld>
            <a:endParaRPr lang="en-US"/>
          </a:p>
        </p:txBody>
      </p:sp>
    </p:spTree>
    <p:extLst>
      <p:ext uri="{BB962C8B-B14F-4D97-AF65-F5344CB8AC3E}">
        <p14:creationId xmlns:p14="http://schemas.microsoft.com/office/powerpoint/2010/main" val="2015636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9718" y="609600"/>
            <a:ext cx="5242983" cy="2133600"/>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6910917" y="1316567"/>
            <a:ext cx="8229600" cy="6498167"/>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1119718" y="2743200"/>
            <a:ext cx="5242983"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2C00833C-F576-4E07-BC5A-DA5472110DA1}" type="datetimeFigureOut">
              <a:rPr lang="en-US" smtClean="0"/>
              <a:t>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790714-5A91-4EA1-BB45-1904054F34D7}" type="slidenum">
              <a:rPr lang="en-US" smtClean="0"/>
              <a:t>‹#›</a:t>
            </a:fld>
            <a:endParaRPr lang="en-US"/>
          </a:p>
        </p:txBody>
      </p:sp>
    </p:spTree>
    <p:extLst>
      <p:ext uri="{BB962C8B-B14F-4D97-AF65-F5344CB8AC3E}">
        <p14:creationId xmlns:p14="http://schemas.microsoft.com/office/powerpoint/2010/main" val="2516334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00833C-F576-4E07-BC5A-DA5472110DA1}"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790714-5A91-4EA1-BB45-1904054F34D7}" type="slidenum">
              <a:rPr lang="en-US" smtClean="0"/>
              <a:t>‹#›</a:t>
            </a:fld>
            <a:endParaRPr lang="en-US"/>
          </a:p>
        </p:txBody>
      </p:sp>
    </p:spTree>
    <p:extLst>
      <p:ext uri="{BB962C8B-B14F-4D97-AF65-F5344CB8AC3E}">
        <p14:creationId xmlns:p14="http://schemas.microsoft.com/office/powerpoint/2010/main" val="2181890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633200" y="486834"/>
            <a:ext cx="3505200"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7600" y="486834"/>
            <a:ext cx="10312400"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00833C-F576-4E07-BC5A-DA5472110DA1}"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790714-5A91-4EA1-BB45-1904054F34D7}" type="slidenum">
              <a:rPr lang="en-US" smtClean="0"/>
              <a:t>‹#›</a:t>
            </a:fld>
            <a:endParaRPr lang="en-US"/>
          </a:p>
        </p:txBody>
      </p:sp>
    </p:spTree>
    <p:extLst>
      <p:ext uri="{BB962C8B-B14F-4D97-AF65-F5344CB8AC3E}">
        <p14:creationId xmlns:p14="http://schemas.microsoft.com/office/powerpoint/2010/main" val="1037558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7600" y="8475134"/>
            <a:ext cx="3657600" cy="486833"/>
          </a:xfrm>
          <a:prstGeom prst="rect">
            <a:avLst/>
          </a:prstGeom>
        </p:spPr>
        <p:txBody>
          <a:bodyPr vert="horz" lIns="91440" tIns="45720" rIns="91440" bIns="45720" rtlCol="0" anchor="ctr"/>
          <a:lstStyle>
            <a:lvl1pPr algn="l">
              <a:defRPr sz="1600">
                <a:solidFill>
                  <a:schemeClr val="tx1">
                    <a:tint val="75000"/>
                  </a:schemeClr>
                </a:solidFill>
              </a:defRPr>
            </a:lvl1pPr>
          </a:lstStyle>
          <a:p>
            <a:fld id="{2C00833C-F576-4E07-BC5A-DA5472110DA1}" type="datetimeFigureOut">
              <a:rPr lang="en-US" smtClean="0"/>
              <a:t>2/26/2025</a:t>
            </a:fld>
            <a:endParaRPr lang="en-US"/>
          </a:p>
        </p:txBody>
      </p:sp>
      <p:sp>
        <p:nvSpPr>
          <p:cNvPr id="5" name="Footer Placeholder 4"/>
          <p:cNvSpPr>
            <a:spLocks noGrp="1"/>
          </p:cNvSpPr>
          <p:nvPr>
            <p:ph type="ftr" sz="quarter" idx="3"/>
          </p:nvPr>
        </p:nvSpPr>
        <p:spPr>
          <a:xfrm>
            <a:off x="5384800" y="8475134"/>
            <a:ext cx="5486400" cy="486833"/>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1480800" y="8475134"/>
            <a:ext cx="3657600" cy="486833"/>
          </a:xfrm>
          <a:prstGeom prst="rect">
            <a:avLst/>
          </a:prstGeom>
        </p:spPr>
        <p:txBody>
          <a:bodyPr vert="horz" lIns="91440" tIns="45720" rIns="91440" bIns="45720" rtlCol="0" anchor="ctr"/>
          <a:lstStyle>
            <a:lvl1pPr algn="r">
              <a:defRPr sz="1600">
                <a:solidFill>
                  <a:schemeClr val="tx1">
                    <a:tint val="75000"/>
                  </a:schemeClr>
                </a:solidFill>
              </a:defRPr>
            </a:lvl1pPr>
          </a:lstStyle>
          <a:p>
            <a:fld id="{82790714-5A91-4EA1-BB45-1904054F34D7}" type="slidenum">
              <a:rPr lang="en-US" smtClean="0"/>
              <a:t>‹#›</a:t>
            </a:fld>
            <a:endParaRPr lang="en-US"/>
          </a:p>
        </p:txBody>
      </p:sp>
    </p:spTree>
    <p:extLst>
      <p:ext uri="{BB962C8B-B14F-4D97-AF65-F5344CB8AC3E}">
        <p14:creationId xmlns:p14="http://schemas.microsoft.com/office/powerpoint/2010/main" val="61233649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221A8-2BDF-A9CB-1355-32B283DF8FC1}"/>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529F3270-10F6-FEB7-B759-DDC211286087}"/>
              </a:ext>
            </a:extLst>
          </p:cNvPr>
          <p:cNvPicPr>
            <a:picLocks noChangeAspect="1"/>
          </p:cNvPicPr>
          <p:nvPr/>
        </p:nvPicPr>
        <p:blipFill>
          <a:blip r:embed="rId3"/>
          <a:srcRect t="6861" b="24253"/>
          <a:stretch/>
        </p:blipFill>
        <p:spPr>
          <a:xfrm>
            <a:off x="910950" y="2968501"/>
            <a:ext cx="3532736" cy="1368887"/>
          </a:xfrm>
          <a:prstGeom prst="rect">
            <a:avLst/>
          </a:prstGeom>
        </p:spPr>
      </p:pic>
      <p:sp>
        <p:nvSpPr>
          <p:cNvPr id="7" name="Rectangle 6">
            <a:extLst>
              <a:ext uri="{FF2B5EF4-FFF2-40B4-BE49-F238E27FC236}">
                <a16:creationId xmlns:a16="http://schemas.microsoft.com/office/drawing/2014/main" id="{496E898C-37A3-B0E5-8A3D-8FFE94CAF7B0}"/>
              </a:ext>
            </a:extLst>
          </p:cNvPr>
          <p:cNvSpPr/>
          <p:nvPr/>
        </p:nvSpPr>
        <p:spPr>
          <a:xfrm>
            <a:off x="0" y="0"/>
            <a:ext cx="16256000" cy="9120182"/>
          </a:xfrm>
          <a:prstGeom prst="rect">
            <a:avLst/>
          </a:prstGeom>
          <a:noFill/>
          <a:ln w="444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masis MT Pro Light" panose="02040304050005020304" pitchFamily="18" charset="0"/>
            </a:endParaRPr>
          </a:p>
        </p:txBody>
      </p:sp>
      <p:sp>
        <p:nvSpPr>
          <p:cNvPr id="13" name="Rectangle 12">
            <a:extLst>
              <a:ext uri="{FF2B5EF4-FFF2-40B4-BE49-F238E27FC236}">
                <a16:creationId xmlns:a16="http://schemas.microsoft.com/office/drawing/2014/main" id="{1CBE1AEC-CBFF-5F1D-2DCA-C7FF6493462D}"/>
              </a:ext>
            </a:extLst>
          </p:cNvPr>
          <p:cNvSpPr/>
          <p:nvPr/>
        </p:nvSpPr>
        <p:spPr>
          <a:xfrm>
            <a:off x="217837" y="1637778"/>
            <a:ext cx="4978975" cy="28787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00"/>
                </a:solidFill>
                <a:latin typeface="Amasis MT Pro Light" panose="02040304050005020304" pitchFamily="18" charset="0"/>
              </a:rPr>
              <a:t>MOTIVATION</a:t>
            </a:r>
          </a:p>
        </p:txBody>
      </p:sp>
      <p:sp>
        <p:nvSpPr>
          <p:cNvPr id="16" name="TextBox 15">
            <a:extLst>
              <a:ext uri="{FF2B5EF4-FFF2-40B4-BE49-F238E27FC236}">
                <a16:creationId xmlns:a16="http://schemas.microsoft.com/office/drawing/2014/main" id="{8E63872E-6934-05EC-D3EB-9DA2F010C8A5}"/>
              </a:ext>
            </a:extLst>
          </p:cNvPr>
          <p:cNvSpPr txBox="1"/>
          <p:nvPr/>
        </p:nvSpPr>
        <p:spPr>
          <a:xfrm>
            <a:off x="217836" y="2044946"/>
            <a:ext cx="5037616" cy="1107996"/>
          </a:xfrm>
          <a:prstGeom prst="rect">
            <a:avLst/>
          </a:prstGeom>
          <a:noFill/>
        </p:spPr>
        <p:txBody>
          <a:bodyPr wrap="square">
            <a:spAutoFit/>
          </a:bodyPr>
          <a:lstStyle/>
          <a:p>
            <a:r>
              <a:rPr lang="en-US" sz="1100" dirty="0"/>
              <a:t>Alzheimer's disease progressively erases an individual's memories, leading to emotional distress for both patients and caregivers.AI-driven memory reconstruction helps Alzheimer's patients reconnect with their cherished memories, bringing comfort and hope to them and their loved ones. By restoring and narrating life’s precious moments, this project offers a lifeline to fading stories, preserving the bonds that matter most.</a:t>
            </a:r>
          </a:p>
        </p:txBody>
      </p:sp>
      <p:sp>
        <p:nvSpPr>
          <p:cNvPr id="38" name="TextBox 37">
            <a:extLst>
              <a:ext uri="{FF2B5EF4-FFF2-40B4-BE49-F238E27FC236}">
                <a16:creationId xmlns:a16="http://schemas.microsoft.com/office/drawing/2014/main" id="{A54D0A94-C1E1-BF60-CE3C-39DE1AB9C3B6}"/>
              </a:ext>
            </a:extLst>
          </p:cNvPr>
          <p:cNvSpPr txBox="1"/>
          <p:nvPr/>
        </p:nvSpPr>
        <p:spPr>
          <a:xfrm>
            <a:off x="10919615" y="6581675"/>
            <a:ext cx="2445618" cy="261610"/>
          </a:xfrm>
          <a:prstGeom prst="rect">
            <a:avLst/>
          </a:prstGeom>
          <a:noFill/>
        </p:spPr>
        <p:txBody>
          <a:bodyPr wrap="square">
            <a:spAutoFit/>
          </a:bodyPr>
          <a:lstStyle/>
          <a:p>
            <a:pPr algn="ctr"/>
            <a:endParaRPr lang="en-US" sz="1100" dirty="0">
              <a:latin typeface="Amasis MT Pro Light" panose="02040304050005020304" pitchFamily="18" charset="0"/>
            </a:endParaRPr>
          </a:p>
        </p:txBody>
      </p:sp>
      <p:sp>
        <p:nvSpPr>
          <p:cNvPr id="43" name="Rectangle 42">
            <a:extLst>
              <a:ext uri="{FF2B5EF4-FFF2-40B4-BE49-F238E27FC236}">
                <a16:creationId xmlns:a16="http://schemas.microsoft.com/office/drawing/2014/main" id="{78C106E1-6126-D36C-C4E2-FEB0EEEEFFCE}"/>
              </a:ext>
            </a:extLst>
          </p:cNvPr>
          <p:cNvSpPr/>
          <p:nvPr/>
        </p:nvSpPr>
        <p:spPr>
          <a:xfrm>
            <a:off x="10994703" y="7141456"/>
            <a:ext cx="5117873" cy="258372"/>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00"/>
                </a:solidFill>
                <a:latin typeface="Amasis MT Pro Light" panose="02040304050005020304" pitchFamily="18" charset="0"/>
              </a:rPr>
              <a:t>DETAILS:</a:t>
            </a:r>
          </a:p>
        </p:txBody>
      </p:sp>
      <p:sp>
        <p:nvSpPr>
          <p:cNvPr id="45" name="TextBox 44">
            <a:extLst>
              <a:ext uri="{FF2B5EF4-FFF2-40B4-BE49-F238E27FC236}">
                <a16:creationId xmlns:a16="http://schemas.microsoft.com/office/drawing/2014/main" id="{40C90A39-436E-3C9D-72F5-42E236AD6BFF}"/>
              </a:ext>
            </a:extLst>
          </p:cNvPr>
          <p:cNvSpPr txBox="1"/>
          <p:nvPr/>
        </p:nvSpPr>
        <p:spPr>
          <a:xfrm>
            <a:off x="10919615" y="7399828"/>
            <a:ext cx="6028941" cy="1246495"/>
          </a:xfrm>
          <a:prstGeom prst="rect">
            <a:avLst/>
          </a:prstGeom>
          <a:noFill/>
        </p:spPr>
        <p:txBody>
          <a:bodyPr wrap="square">
            <a:spAutoFit/>
          </a:bodyPr>
          <a:lstStyle/>
          <a:p>
            <a:pPr marR="0" algn="just">
              <a:spcBef>
                <a:spcPts val="0"/>
              </a:spcBef>
              <a:spcAft>
                <a:spcPts val="0"/>
              </a:spcAft>
            </a:pPr>
            <a:r>
              <a:rPr lang="en-US" sz="1250" b="1" u="sng" dirty="0">
                <a:effectLst/>
                <a:latin typeface="Amasis MT Pro Light" panose="02040304050005020304" pitchFamily="18" charset="0"/>
                <a:ea typeface="Calibri" panose="020F0502020204030204" pitchFamily="34" charset="0"/>
                <a:cs typeface="Mangal" panose="02040503050203030202" pitchFamily="18" charset="0"/>
              </a:rPr>
              <a:t>Name</a:t>
            </a:r>
            <a:r>
              <a:rPr lang="en-US" sz="1250" b="1" dirty="0">
                <a:effectLst/>
                <a:latin typeface="Amasis MT Pro Light" panose="02040304050005020304" pitchFamily="18" charset="0"/>
                <a:ea typeface="Calibri" panose="020F0502020204030204" pitchFamily="34" charset="0"/>
                <a:cs typeface="Mangal" panose="02040503050203030202" pitchFamily="18" charset="0"/>
              </a:rPr>
              <a:t>: Priyanshu Kumawat - A2305222266, </a:t>
            </a:r>
            <a:r>
              <a:rPr lang="en-US" sz="1250" b="1" dirty="0">
                <a:latin typeface="Amasis MT Pro Light" panose="02040304050005020304" pitchFamily="18" charset="0"/>
                <a:ea typeface="Calibri" panose="020F0502020204030204" pitchFamily="34" charset="0"/>
                <a:cs typeface="Mangal" panose="02040503050203030202" pitchFamily="18" charset="0"/>
              </a:rPr>
              <a:t>Harsh Upreti - A2305222250</a:t>
            </a:r>
          </a:p>
          <a:p>
            <a:pPr marR="0" algn="just">
              <a:spcBef>
                <a:spcPts val="0"/>
              </a:spcBef>
              <a:spcAft>
                <a:spcPts val="0"/>
              </a:spcAft>
            </a:pPr>
            <a:r>
              <a:rPr lang="en-US" sz="1250" b="1" dirty="0">
                <a:effectLst/>
                <a:latin typeface="Amasis MT Pro Light" panose="02040304050005020304" pitchFamily="18" charset="0"/>
                <a:ea typeface="Calibri" panose="020F0502020204030204" pitchFamily="34" charset="0"/>
                <a:cs typeface="Mangal" panose="02040503050203030202" pitchFamily="18" charset="0"/>
              </a:rPr>
              <a:t>            </a:t>
            </a:r>
            <a:r>
              <a:rPr lang="en-US" sz="1250" b="1" dirty="0" err="1">
                <a:effectLst/>
                <a:latin typeface="Amasis MT Pro Light" panose="02040304050005020304" pitchFamily="18" charset="0"/>
                <a:ea typeface="Calibri" panose="020F0502020204030204" pitchFamily="34" charset="0"/>
                <a:cs typeface="Mangal" panose="02040503050203030202" pitchFamily="18" charset="0"/>
              </a:rPr>
              <a:t>Utkrisht</a:t>
            </a:r>
            <a:r>
              <a:rPr lang="en-US" sz="1250" b="1" dirty="0">
                <a:effectLst/>
                <a:latin typeface="Amasis MT Pro Light" panose="02040304050005020304" pitchFamily="18" charset="0"/>
                <a:ea typeface="Calibri" panose="020F0502020204030204" pitchFamily="34" charset="0"/>
                <a:cs typeface="Mangal" panose="02040503050203030202" pitchFamily="18" charset="0"/>
              </a:rPr>
              <a:t> Singh - A2305222225, </a:t>
            </a:r>
            <a:r>
              <a:rPr lang="en-US" sz="1250" b="1" dirty="0">
                <a:latin typeface="Amasis MT Pro Light" panose="02040304050005020304" pitchFamily="18" charset="0"/>
                <a:ea typeface="Calibri" panose="020F0502020204030204" pitchFamily="34" charset="0"/>
                <a:cs typeface="Mangal" panose="02040503050203030202" pitchFamily="18" charset="0"/>
              </a:rPr>
              <a:t>Divyansh Yadav - A2305222238</a:t>
            </a:r>
          </a:p>
          <a:p>
            <a:pPr marR="0" algn="just">
              <a:spcBef>
                <a:spcPts val="0"/>
              </a:spcBef>
              <a:spcAft>
                <a:spcPts val="0"/>
              </a:spcAft>
            </a:pPr>
            <a:r>
              <a:rPr lang="en-US" sz="1250" b="1" u="sng" dirty="0">
                <a:latin typeface="Amasis MT Pro Light" panose="02040304050005020304" pitchFamily="18" charset="0"/>
                <a:ea typeface="Calibri" panose="020F0502020204030204" pitchFamily="34" charset="0"/>
                <a:cs typeface="Mangal" panose="02040503050203030202" pitchFamily="18" charset="0"/>
              </a:rPr>
              <a:t>Department: </a:t>
            </a:r>
            <a:r>
              <a:rPr lang="en-US" sz="1250" b="1" dirty="0">
                <a:latin typeface="Amasis MT Pro Light" panose="02040304050005020304" pitchFamily="18" charset="0"/>
                <a:ea typeface="Calibri" panose="020F0502020204030204" pitchFamily="34" charset="0"/>
                <a:cs typeface="Mangal" panose="02040503050203030202" pitchFamily="18" charset="0"/>
              </a:rPr>
              <a:t>BTech CSE</a:t>
            </a:r>
          </a:p>
          <a:p>
            <a:pPr marR="0" algn="just">
              <a:spcBef>
                <a:spcPts val="0"/>
              </a:spcBef>
              <a:spcAft>
                <a:spcPts val="0"/>
              </a:spcAft>
            </a:pPr>
            <a:r>
              <a:rPr lang="en-US" sz="1250" b="1" u="sng" dirty="0">
                <a:latin typeface="Amasis MT Pro Light" panose="02040304050005020304" pitchFamily="18" charset="0"/>
                <a:ea typeface="Calibri" panose="020F0502020204030204" pitchFamily="34" charset="0"/>
                <a:cs typeface="Mangal" panose="02040503050203030202" pitchFamily="18" charset="0"/>
              </a:rPr>
              <a:t>Institute:</a:t>
            </a:r>
            <a:r>
              <a:rPr lang="en-US" sz="1250" b="1" dirty="0">
                <a:latin typeface="Amasis MT Pro Light" panose="02040304050005020304" pitchFamily="18" charset="0"/>
                <a:ea typeface="Calibri" panose="020F0502020204030204" pitchFamily="34" charset="0"/>
                <a:cs typeface="Mangal" panose="02040503050203030202" pitchFamily="18" charset="0"/>
              </a:rPr>
              <a:t> ASET</a:t>
            </a:r>
          </a:p>
          <a:p>
            <a:pPr marR="0" algn="just">
              <a:spcBef>
                <a:spcPts val="0"/>
              </a:spcBef>
              <a:spcAft>
                <a:spcPts val="0"/>
              </a:spcAft>
            </a:pPr>
            <a:r>
              <a:rPr lang="en-US" sz="1250" b="1" u="sng" dirty="0">
                <a:latin typeface="Amasis MT Pro Light" panose="02040304050005020304" pitchFamily="18" charset="0"/>
                <a:ea typeface="Calibri" panose="020F0502020204030204" pitchFamily="34" charset="0"/>
                <a:cs typeface="Mangal" panose="02040503050203030202" pitchFamily="18" charset="0"/>
              </a:rPr>
              <a:t>Email ID:</a:t>
            </a:r>
            <a:r>
              <a:rPr lang="en-US" sz="1250" b="1" dirty="0">
                <a:latin typeface="Amasis MT Pro Light" panose="02040304050005020304" pitchFamily="18" charset="0"/>
                <a:ea typeface="Calibri" panose="020F0502020204030204" pitchFamily="34" charset="0"/>
                <a:cs typeface="Mangal" panose="02040503050203030202" pitchFamily="18" charset="0"/>
              </a:rPr>
              <a:t>  priyanshu.kumawat@s.amity.edu</a:t>
            </a:r>
          </a:p>
          <a:p>
            <a:pPr marR="0" algn="just">
              <a:spcBef>
                <a:spcPts val="0"/>
              </a:spcBef>
              <a:spcAft>
                <a:spcPts val="0"/>
              </a:spcAft>
            </a:pPr>
            <a:endParaRPr lang="en-US" sz="1250" b="1" dirty="0">
              <a:effectLst/>
              <a:latin typeface="Amasis MT Pro Light" panose="02040304050005020304" pitchFamily="18" charset="0"/>
              <a:ea typeface="Calibri" panose="020F0502020204030204" pitchFamily="34" charset="0"/>
              <a:cs typeface="Mangal" panose="02040503050203030202" pitchFamily="18" charset="0"/>
            </a:endParaRPr>
          </a:p>
        </p:txBody>
      </p:sp>
      <p:sp>
        <p:nvSpPr>
          <p:cNvPr id="47" name="TextBox 46">
            <a:extLst>
              <a:ext uri="{FF2B5EF4-FFF2-40B4-BE49-F238E27FC236}">
                <a16:creationId xmlns:a16="http://schemas.microsoft.com/office/drawing/2014/main" id="{7DE2F3AB-8B6F-6A00-4553-841118BCFBBA}"/>
              </a:ext>
            </a:extLst>
          </p:cNvPr>
          <p:cNvSpPr txBox="1"/>
          <p:nvPr/>
        </p:nvSpPr>
        <p:spPr>
          <a:xfrm>
            <a:off x="40752" y="8570582"/>
            <a:ext cx="16177147" cy="518777"/>
          </a:xfrm>
          <a:prstGeom prst="rect">
            <a:avLst/>
          </a:prstGeom>
          <a:solidFill>
            <a:srgbClr val="FFC000"/>
          </a:solidFill>
          <a:ln>
            <a:noFill/>
          </a:ln>
          <a:scene3d>
            <a:camera prst="orthographicFront"/>
            <a:lightRig rig="threePt" dir="t"/>
          </a:scene3d>
          <a:sp3d extrusionH="139700">
            <a:bevelT w="247650" prst="artDeco"/>
            <a:extrusionClr>
              <a:schemeClr val="tx1">
                <a:lumMod val="95000"/>
                <a:lumOff val="5000"/>
              </a:schemeClr>
            </a:extrusion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4800">
                <a:solidFill>
                  <a:schemeClr val="tx1"/>
                </a:solidFill>
                <a:latin typeface="Times New Roman" panose="02020603050405020304" pitchFamily="18" charset="0"/>
                <a:cs typeface="Times New Roman" panose="020206030504050203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2400" dirty="0"/>
              <a:t>E3G-12B, Amity University, Sector 125, Noida, UP.                Email: ai@amity.edu           www.amity.edu/acai/</a:t>
            </a:r>
            <a:endParaRPr lang="en-IN" sz="2400" dirty="0"/>
          </a:p>
        </p:txBody>
      </p:sp>
      <p:pic>
        <p:nvPicPr>
          <p:cNvPr id="2" name="Picture 1">
            <a:extLst>
              <a:ext uri="{FF2B5EF4-FFF2-40B4-BE49-F238E27FC236}">
                <a16:creationId xmlns:a16="http://schemas.microsoft.com/office/drawing/2014/main" id="{F03607FC-FEEA-108F-69D1-A98B173A1F52}"/>
              </a:ext>
            </a:extLst>
          </p:cNvPr>
          <p:cNvPicPr>
            <a:picLocks noChangeAspect="1"/>
          </p:cNvPicPr>
          <p:nvPr/>
        </p:nvPicPr>
        <p:blipFill>
          <a:blip r:embed="rId4"/>
          <a:stretch>
            <a:fillRect/>
          </a:stretch>
        </p:blipFill>
        <p:spPr>
          <a:xfrm>
            <a:off x="11967210" y="118650"/>
            <a:ext cx="4163055" cy="808395"/>
          </a:xfrm>
          <a:prstGeom prst="rect">
            <a:avLst/>
          </a:prstGeom>
        </p:spPr>
      </p:pic>
      <p:pic>
        <p:nvPicPr>
          <p:cNvPr id="8" name="Picture 2" descr="Amity University Logo PNG Download Original Logo Big Size ...">
            <a:extLst>
              <a:ext uri="{FF2B5EF4-FFF2-40B4-BE49-F238E27FC236}">
                <a16:creationId xmlns:a16="http://schemas.microsoft.com/office/drawing/2014/main" id="{F4A10610-6D45-EED6-9127-6D84EE93A75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5160" b="34617"/>
          <a:stretch/>
        </p:blipFill>
        <p:spPr bwMode="auto">
          <a:xfrm>
            <a:off x="-1476" y="84778"/>
            <a:ext cx="3444270" cy="1040935"/>
          </a:xfrm>
          <a:prstGeom prst="rect">
            <a:avLst/>
          </a:prstGeom>
          <a:noFill/>
          <a:effectLst>
            <a:outerShdw blurRad="50800" dist="127000" dir="2700000" sx="98000" sy="98000" algn="tl" rotWithShape="0">
              <a:prstClr val="black">
                <a:alpha val="31000"/>
              </a:prstClr>
            </a:outerShdw>
          </a:effectLst>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F0B57017-0F92-0DB5-D324-4EADE7D25855}"/>
              </a:ext>
            </a:extLst>
          </p:cNvPr>
          <p:cNvCxnSpPr>
            <a:cxnSpLocks/>
          </p:cNvCxnSpPr>
          <p:nvPr/>
        </p:nvCxnSpPr>
        <p:spPr>
          <a:xfrm>
            <a:off x="3234690" y="523524"/>
            <a:ext cx="8549640" cy="0"/>
          </a:xfrm>
          <a:prstGeom prst="line">
            <a:avLst/>
          </a:prstGeom>
          <a:ln>
            <a:solidFill>
              <a:srgbClr val="002060"/>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345E135-49E7-014B-1852-B5B9231479FE}"/>
              </a:ext>
            </a:extLst>
          </p:cNvPr>
          <p:cNvSpPr txBox="1"/>
          <p:nvPr/>
        </p:nvSpPr>
        <p:spPr>
          <a:xfrm>
            <a:off x="217837" y="935829"/>
            <a:ext cx="15983921" cy="523926"/>
          </a:xfrm>
          <a:prstGeom prst="rect">
            <a:avLst/>
          </a:prstGeom>
          <a:noFill/>
        </p:spPr>
        <p:txBody>
          <a:bodyPr wrap="square">
            <a:spAutoFit/>
          </a:bodyPr>
          <a:lstStyle/>
          <a:p>
            <a:pPr marL="0" marR="0" algn="ctr">
              <a:lnSpc>
                <a:spcPct val="107000"/>
              </a:lnSpc>
              <a:spcBef>
                <a:spcPts val="0"/>
              </a:spcBef>
              <a:spcAft>
                <a:spcPts val="0"/>
              </a:spcAft>
            </a:pPr>
            <a:r>
              <a:rPr lang="en-US" sz="2800" dirty="0">
                <a:solidFill>
                  <a:srgbClr val="0C2D4F"/>
                </a:solidFill>
                <a:effectLst/>
                <a:latin typeface="Amasis MT Pro Black" panose="02040A04050005020304" pitchFamily="18" charset="0"/>
                <a:ea typeface="Calibri" panose="020F0502020204030204" pitchFamily="34" charset="0"/>
                <a:cs typeface="Mangal" panose="02040503050203030202" pitchFamily="18" charset="0"/>
              </a:rPr>
              <a:t>“AI-Driven ‘Life Rewind’ for Alzheimer’s Patients”</a:t>
            </a:r>
            <a:endParaRPr lang="en-US" sz="1200" dirty="0">
              <a:solidFill>
                <a:srgbClr val="0C2D4F"/>
              </a:solidFill>
              <a:effectLst/>
              <a:latin typeface="Amasis MT Pro Black" panose="02040A04050005020304" pitchFamily="18" charset="0"/>
              <a:ea typeface="Calibri" panose="020F0502020204030204" pitchFamily="34" charset="0"/>
              <a:cs typeface="Mangal" panose="02040503050203030202" pitchFamily="18" charset="0"/>
            </a:endParaRPr>
          </a:p>
        </p:txBody>
      </p:sp>
      <p:pic>
        <p:nvPicPr>
          <p:cNvPr id="17" name="Picture 16">
            <a:extLst>
              <a:ext uri="{FF2B5EF4-FFF2-40B4-BE49-F238E27FC236}">
                <a16:creationId xmlns:a16="http://schemas.microsoft.com/office/drawing/2014/main" id="{1BE755CD-5EF1-B2AC-5BE5-AE92B691E047}"/>
              </a:ext>
            </a:extLst>
          </p:cNvPr>
          <p:cNvPicPr>
            <a:picLocks noChangeAspect="1"/>
          </p:cNvPicPr>
          <p:nvPr/>
        </p:nvPicPr>
        <p:blipFill>
          <a:blip r:embed="rId6"/>
          <a:srcRect t="3523" r="2688" b="27222"/>
          <a:stretch/>
        </p:blipFill>
        <p:spPr>
          <a:xfrm>
            <a:off x="5493799" y="1468539"/>
            <a:ext cx="9098283" cy="3061087"/>
          </a:xfrm>
          <a:prstGeom prst="rect">
            <a:avLst/>
          </a:prstGeom>
        </p:spPr>
      </p:pic>
      <p:sp>
        <p:nvSpPr>
          <p:cNvPr id="18" name="Rectangle 17">
            <a:extLst>
              <a:ext uri="{FF2B5EF4-FFF2-40B4-BE49-F238E27FC236}">
                <a16:creationId xmlns:a16="http://schemas.microsoft.com/office/drawing/2014/main" id="{D8FF1091-215D-1099-A370-7A2725738619}"/>
              </a:ext>
            </a:extLst>
          </p:cNvPr>
          <p:cNvSpPr/>
          <p:nvPr/>
        </p:nvSpPr>
        <p:spPr>
          <a:xfrm>
            <a:off x="219647" y="4816310"/>
            <a:ext cx="5012276" cy="28787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00"/>
                </a:solidFill>
                <a:latin typeface="Amasis MT Pro Light" panose="02040304050005020304" pitchFamily="18" charset="0"/>
              </a:rPr>
              <a:t>METHODOLOGY</a:t>
            </a:r>
          </a:p>
        </p:txBody>
      </p:sp>
      <p:cxnSp>
        <p:nvCxnSpPr>
          <p:cNvPr id="19" name="Straight Connector 18">
            <a:extLst>
              <a:ext uri="{FF2B5EF4-FFF2-40B4-BE49-F238E27FC236}">
                <a16:creationId xmlns:a16="http://schemas.microsoft.com/office/drawing/2014/main" id="{159990B9-B5AE-359A-1B4A-9D631CD59E96}"/>
              </a:ext>
            </a:extLst>
          </p:cNvPr>
          <p:cNvCxnSpPr/>
          <p:nvPr/>
        </p:nvCxnSpPr>
        <p:spPr>
          <a:xfrm>
            <a:off x="5354635" y="1809228"/>
            <a:ext cx="0" cy="6274768"/>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A1E5A82-04DA-F9EB-4B5E-1BA42FA2E4C4}"/>
              </a:ext>
            </a:extLst>
          </p:cNvPr>
          <p:cNvSpPr txBox="1"/>
          <p:nvPr/>
        </p:nvSpPr>
        <p:spPr>
          <a:xfrm>
            <a:off x="217836" y="5187968"/>
            <a:ext cx="4891374" cy="3139321"/>
          </a:xfrm>
          <a:prstGeom prst="rect">
            <a:avLst/>
          </a:prstGeom>
          <a:noFill/>
        </p:spPr>
        <p:txBody>
          <a:bodyPr wrap="square" rtlCol="0">
            <a:spAutoFit/>
          </a:bodyPr>
          <a:lstStyle/>
          <a:p>
            <a:pPr marL="228600" indent="-228600">
              <a:buAutoNum type="arabicPeriod"/>
            </a:pPr>
            <a:r>
              <a:rPr lang="en-US" sz="1100" b="1" dirty="0"/>
              <a:t>Frontend Interface: </a:t>
            </a:r>
            <a:r>
              <a:rPr lang="en-US" sz="1100" dirty="0"/>
              <a:t>A user-friendly web interface offers four options—story generation, image generation, voice narration, and video generation—allowing users to relive their memories </a:t>
            </a:r>
            <a:r>
              <a:rPr lang="en-US" sz="1100" dirty="0" err="1"/>
              <a:t>immersively</a:t>
            </a:r>
            <a:r>
              <a:rPr lang="en-US" sz="1100" dirty="0"/>
              <a:t>.</a:t>
            </a:r>
          </a:p>
          <a:p>
            <a:pPr marL="228600" indent="-228600">
              <a:buAutoNum type="arabicPeriod"/>
            </a:pPr>
            <a:r>
              <a:rPr lang="en-US" sz="1100" dirty="0"/>
              <a:t> </a:t>
            </a:r>
            <a:r>
              <a:rPr lang="en-US" sz="1100" b="1" dirty="0"/>
              <a:t>Story Generation</a:t>
            </a:r>
            <a:r>
              <a:rPr lang="en-US" sz="1100" dirty="0"/>
              <a:t>: An image and text prompt are taken as input. The image is analyzed, and the contextual details are combined with the prompt to generate a meaningful story.</a:t>
            </a:r>
          </a:p>
          <a:p>
            <a:pPr marL="228600" indent="-228600">
              <a:buAutoNum type="arabicPeriod"/>
            </a:pPr>
            <a:r>
              <a:rPr lang="en-US" sz="1100" b="1" dirty="0"/>
              <a:t> Image Generation: </a:t>
            </a:r>
            <a:r>
              <a:rPr lang="en-US" sz="1100" dirty="0"/>
              <a:t>An image and text prompt are taken as input. A story is generated from the prompt, and a new image is created based on the input image and narrative.</a:t>
            </a:r>
          </a:p>
          <a:p>
            <a:pPr marL="228600" indent="-228600">
              <a:buAutoNum type="arabicPeriod"/>
            </a:pPr>
            <a:r>
              <a:rPr lang="en-US" sz="1100" dirty="0"/>
              <a:t> </a:t>
            </a:r>
            <a:r>
              <a:rPr lang="en-US" sz="1100" b="1" dirty="0"/>
              <a:t>Voice Narration</a:t>
            </a:r>
            <a:r>
              <a:rPr lang="en-US" sz="1100" dirty="0"/>
              <a:t>: A voice sample and text prompt are taken as input. A story is generated, and voice cloning is performed to deliver the narrative in the familiar voice.</a:t>
            </a:r>
          </a:p>
          <a:p>
            <a:pPr marL="228600" indent="-228600">
              <a:buAutoNum type="arabicPeriod"/>
            </a:pPr>
            <a:r>
              <a:rPr lang="en-US" sz="1100" dirty="0"/>
              <a:t> </a:t>
            </a:r>
            <a:r>
              <a:rPr lang="en-US" sz="1100" b="1" dirty="0"/>
              <a:t>Video Generation</a:t>
            </a:r>
            <a:r>
              <a:rPr lang="en-US" sz="1100" dirty="0"/>
              <a:t>: A voice sample, image, and text prompt are taken as input. A story is generated, voice is cloned, and multiple images are created to form a video or slideshow with voiceover.</a:t>
            </a:r>
          </a:p>
          <a:p>
            <a:pPr marL="228600" indent="-228600">
              <a:buAutoNum type="arabicPeriod"/>
            </a:pPr>
            <a:r>
              <a:rPr lang="en-US" sz="1100" dirty="0"/>
              <a:t> </a:t>
            </a:r>
            <a:r>
              <a:rPr lang="en-US" sz="1100" b="1" dirty="0"/>
              <a:t>Backend Integration: </a:t>
            </a:r>
            <a:r>
              <a:rPr lang="en-US" sz="1100" dirty="0"/>
              <a:t>Flask connects the Python modules for story, image, voice, and video processing to the frontend, enabling seamless user interaction.</a:t>
            </a:r>
            <a:endParaRPr lang="en-IN" sz="1100" dirty="0"/>
          </a:p>
        </p:txBody>
      </p:sp>
      <p:sp>
        <p:nvSpPr>
          <p:cNvPr id="35" name="TextBox 34">
            <a:extLst>
              <a:ext uri="{FF2B5EF4-FFF2-40B4-BE49-F238E27FC236}">
                <a16:creationId xmlns:a16="http://schemas.microsoft.com/office/drawing/2014/main" id="{F9FE3FBB-D232-5718-3486-5C10E2593A74}"/>
              </a:ext>
            </a:extLst>
          </p:cNvPr>
          <p:cNvSpPr txBox="1"/>
          <p:nvPr/>
        </p:nvSpPr>
        <p:spPr>
          <a:xfrm>
            <a:off x="703534" y="4294149"/>
            <a:ext cx="4317679" cy="369332"/>
          </a:xfrm>
          <a:prstGeom prst="rect">
            <a:avLst/>
          </a:prstGeom>
          <a:noFill/>
        </p:spPr>
        <p:txBody>
          <a:bodyPr wrap="square">
            <a:spAutoFit/>
          </a:bodyPr>
          <a:lstStyle/>
          <a:p>
            <a:r>
              <a:rPr lang="en-US" b="1" dirty="0"/>
              <a:t>Brain Affected Area In Alzheimer Patient</a:t>
            </a:r>
          </a:p>
        </p:txBody>
      </p:sp>
      <p:sp>
        <p:nvSpPr>
          <p:cNvPr id="36" name="Rectangle 35">
            <a:extLst>
              <a:ext uri="{FF2B5EF4-FFF2-40B4-BE49-F238E27FC236}">
                <a16:creationId xmlns:a16="http://schemas.microsoft.com/office/drawing/2014/main" id="{5D24AA06-6C9E-26E0-1CBD-44BC05143EE4}"/>
              </a:ext>
            </a:extLst>
          </p:cNvPr>
          <p:cNvSpPr/>
          <p:nvPr/>
        </p:nvSpPr>
        <p:spPr>
          <a:xfrm>
            <a:off x="5493799" y="4816310"/>
            <a:ext cx="4978975" cy="28787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00"/>
                </a:solidFill>
                <a:latin typeface="Amasis MT Pro Light" panose="02040304050005020304" pitchFamily="18" charset="0"/>
              </a:rPr>
              <a:t>DATASET DETAILS</a:t>
            </a:r>
          </a:p>
        </p:txBody>
      </p:sp>
      <p:cxnSp>
        <p:nvCxnSpPr>
          <p:cNvPr id="37" name="Straight Connector 36">
            <a:extLst>
              <a:ext uri="{FF2B5EF4-FFF2-40B4-BE49-F238E27FC236}">
                <a16:creationId xmlns:a16="http://schemas.microsoft.com/office/drawing/2014/main" id="{E4A1E2A5-F2EB-49A3-B1AF-780C00CFEC12}"/>
              </a:ext>
            </a:extLst>
          </p:cNvPr>
          <p:cNvCxnSpPr>
            <a:cxnSpLocks/>
          </p:cNvCxnSpPr>
          <p:nvPr/>
        </p:nvCxnSpPr>
        <p:spPr>
          <a:xfrm>
            <a:off x="10706353" y="4926330"/>
            <a:ext cx="0" cy="3400959"/>
          </a:xfrm>
          <a:prstGeom prst="line">
            <a:avLst/>
          </a:prstGeom>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4E62AF6B-EBD5-E133-46FC-540BAE70F143}"/>
              </a:ext>
            </a:extLst>
          </p:cNvPr>
          <p:cNvSpPr/>
          <p:nvPr/>
        </p:nvSpPr>
        <p:spPr>
          <a:xfrm>
            <a:off x="10988868" y="4827797"/>
            <a:ext cx="5035976" cy="258372"/>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00"/>
                </a:solidFill>
                <a:latin typeface="Amasis MT Pro Light" panose="02040304050005020304" pitchFamily="18" charset="0"/>
              </a:rPr>
              <a:t>EXPECTED RESULTS</a:t>
            </a:r>
          </a:p>
        </p:txBody>
      </p:sp>
      <p:pic>
        <p:nvPicPr>
          <p:cNvPr id="6" name="Picture 5">
            <a:extLst>
              <a:ext uri="{FF2B5EF4-FFF2-40B4-BE49-F238E27FC236}">
                <a16:creationId xmlns:a16="http://schemas.microsoft.com/office/drawing/2014/main" id="{7DDB267F-80CD-D5C0-752D-33489F24C5F4}"/>
              </a:ext>
            </a:extLst>
          </p:cNvPr>
          <p:cNvPicPr>
            <a:picLocks noChangeAspect="1"/>
          </p:cNvPicPr>
          <p:nvPr/>
        </p:nvPicPr>
        <p:blipFill>
          <a:blip r:embed="rId7"/>
          <a:stretch>
            <a:fillRect/>
          </a:stretch>
        </p:blipFill>
        <p:spPr>
          <a:xfrm>
            <a:off x="6288850" y="5237409"/>
            <a:ext cx="3451126" cy="2578241"/>
          </a:xfrm>
          <a:prstGeom prst="rect">
            <a:avLst/>
          </a:prstGeom>
        </p:spPr>
      </p:pic>
      <p:sp>
        <p:nvSpPr>
          <p:cNvPr id="9" name="TextBox 8">
            <a:extLst>
              <a:ext uri="{FF2B5EF4-FFF2-40B4-BE49-F238E27FC236}">
                <a16:creationId xmlns:a16="http://schemas.microsoft.com/office/drawing/2014/main" id="{00F5C3C7-7EFF-4C20-AAE8-E02A44D6B758}"/>
              </a:ext>
            </a:extLst>
          </p:cNvPr>
          <p:cNvSpPr txBox="1"/>
          <p:nvPr/>
        </p:nvSpPr>
        <p:spPr>
          <a:xfrm>
            <a:off x="10988868" y="5136622"/>
            <a:ext cx="5035974" cy="1954381"/>
          </a:xfrm>
          <a:prstGeom prst="rect">
            <a:avLst/>
          </a:prstGeom>
          <a:noFill/>
        </p:spPr>
        <p:txBody>
          <a:bodyPr wrap="square" rtlCol="0">
            <a:spAutoFit/>
          </a:bodyPr>
          <a:lstStyle/>
          <a:p>
            <a:r>
              <a:rPr lang="en-US" sz="1100" dirty="0"/>
              <a:t>The "Life Rewind" system is expected to help Alzheimer's patients reconnect with cherished memories, enhancing cognitive engagement and emotional well-being. By generating personalized stories, images, voice narrations, and videos, it creates immersive experiences that stimulate memory recall and bring moments of familiarity. The recreation of familiar voices and visuals provides comfort, reducing feelings of isolation and confusion. It also strengthens emotional connections by allowing patients to share memories with loved ones, preserving meaningful relationships. This personalized approach offers therapeutic support, helping patients maintain a sense of identity and continuity. By leveraging advanced AI technologies, the system provides innovative emotional care, improving the quality of life for those affected by memory loss.</a:t>
            </a:r>
            <a:endParaRPr lang="en-IN" sz="1100" dirty="0"/>
          </a:p>
        </p:txBody>
      </p:sp>
      <p:sp>
        <p:nvSpPr>
          <p:cNvPr id="14" name="TextBox 13">
            <a:extLst>
              <a:ext uri="{FF2B5EF4-FFF2-40B4-BE49-F238E27FC236}">
                <a16:creationId xmlns:a16="http://schemas.microsoft.com/office/drawing/2014/main" id="{A2576C70-7A16-2599-C5EB-CB1F1A0AE066}"/>
              </a:ext>
            </a:extLst>
          </p:cNvPr>
          <p:cNvSpPr txBox="1"/>
          <p:nvPr/>
        </p:nvSpPr>
        <p:spPr>
          <a:xfrm>
            <a:off x="6858600" y="7892270"/>
            <a:ext cx="2343788" cy="261610"/>
          </a:xfrm>
          <a:prstGeom prst="rect">
            <a:avLst/>
          </a:prstGeom>
          <a:noFill/>
        </p:spPr>
        <p:txBody>
          <a:bodyPr wrap="square" rtlCol="0">
            <a:spAutoFit/>
          </a:bodyPr>
          <a:lstStyle/>
          <a:p>
            <a:r>
              <a:rPr lang="en-US" sz="1100" dirty="0"/>
              <a:t>User gives voice and images as input</a:t>
            </a:r>
            <a:endParaRPr lang="en-IN" sz="1100" dirty="0"/>
          </a:p>
        </p:txBody>
      </p:sp>
    </p:spTree>
    <p:extLst>
      <p:ext uri="{BB962C8B-B14F-4D97-AF65-F5344CB8AC3E}">
        <p14:creationId xmlns:p14="http://schemas.microsoft.com/office/powerpoint/2010/main" val="217844786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29c4c70e-e6da-41f5-a525-ef890dacc21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50184CF7FC1A04F9AC4210F9008F84C" ma:contentTypeVersion="6" ma:contentTypeDescription="Create a new document." ma:contentTypeScope="" ma:versionID="38217a76de7b3e847251e04c59fb8904">
  <xsd:schema xmlns:xsd="http://www.w3.org/2001/XMLSchema" xmlns:xs="http://www.w3.org/2001/XMLSchema" xmlns:p="http://schemas.microsoft.com/office/2006/metadata/properties" xmlns:ns3="29c4c70e-e6da-41f5-a525-ef890dacc217" targetNamespace="http://schemas.microsoft.com/office/2006/metadata/properties" ma:root="true" ma:fieldsID="b4e53bdf72f7d87c42857912e58366ba" ns3:_="">
    <xsd:import namespace="29c4c70e-e6da-41f5-a525-ef890dacc217"/>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c4c70e-e6da-41f5-a525-ef890dacc21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D6CD9BB-C473-41FE-ACF5-5A2A280B70E6}">
  <ds:schemaRefs>
    <ds:schemaRef ds:uri="http://schemas.microsoft.com/sharepoint/v3/contenttype/forms"/>
  </ds:schemaRefs>
</ds:datastoreItem>
</file>

<file path=customXml/itemProps2.xml><?xml version="1.0" encoding="utf-8"?>
<ds:datastoreItem xmlns:ds="http://schemas.openxmlformats.org/officeDocument/2006/customXml" ds:itemID="{1909FED7-A3A4-4B21-8B5D-225387BFEA37}">
  <ds:schemaRefs>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elements/1.1/"/>
    <ds:schemaRef ds:uri="http://purl.org/dc/dcmitype/"/>
    <ds:schemaRef ds:uri="29c4c70e-e6da-41f5-a525-ef890dacc217"/>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562C3D12-0B65-4C7F-B10B-85805003ED9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9c4c70e-e6da-41f5-a525-ef890dacc21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1480</TotalTime>
  <Words>498</Words>
  <Application>Microsoft Office PowerPoint</Application>
  <PresentationFormat>Custom</PresentationFormat>
  <Paragraphs>23</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Amasis MT Pro Black</vt:lpstr>
      <vt:lpstr>Amasis MT Pro Light</vt: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Rakesh Chandra Joshi</dc:creator>
  <cp:lastModifiedBy>harsh upreti</cp:lastModifiedBy>
  <cp:revision>24</cp:revision>
  <dcterms:created xsi:type="dcterms:W3CDTF">2023-12-05T12:06:55Z</dcterms:created>
  <dcterms:modified xsi:type="dcterms:W3CDTF">2025-02-26T13:23:00Z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0x010100F50184CF7FC1A04F9AC4210F9008F84C</vt:lpwstr>
  </property>
</Properties>
</file>